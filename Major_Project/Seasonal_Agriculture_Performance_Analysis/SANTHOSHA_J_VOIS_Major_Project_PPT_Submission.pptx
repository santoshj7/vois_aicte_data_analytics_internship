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7" r:id="rId11"/>
    <p:sldId id="348" r:id="rId12"/>
    <p:sldId id="349" r:id="rId13"/>
    <p:sldId id="350" r:id="rId14"/>
    <p:sldId id="351" r:id="rId15"/>
    <p:sldId id="352" r:id="rId16"/>
    <p:sldId id="341" r:id="rId17"/>
    <p:sldId id="342" r:id="rId18"/>
    <p:sldId id="34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6" d="100"/>
          <a:sy n="96" d="100"/>
        </p:scale>
        <p:origin x="82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toshj7/VOIS_AICTE_Data_Analytics_Internship/tree/main/Major_Project/Seasonal_Agriculture_Performance_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4735" y="3582090"/>
            <a:ext cx="7990249" cy="13002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Name:	SANTHOSHA J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Name: 	Ballari Institute of Technology and Management</a:t>
            </a:r>
          </a:p>
          <a:p>
            <a:r>
              <a:rPr lang="en-IN" b="0" dirty="0">
                <a:solidFill>
                  <a:schemeClr val="tx1"/>
                </a:solidFill>
              </a:rPr>
              <a:t>AICTE STU ID:  	STU6903150a9baac1761809674 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735" y="2754241"/>
            <a:ext cx="9662529" cy="684424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IN" sz="3200" b="1" dirty="0"/>
              <a:t>SEASONAL AGRICULTURE PERFORMANCE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71003"/>
            <a:ext cx="6742610" cy="4482374"/>
          </a:xfr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However, raw agricultural data do not clearly explain how agricultural performance changes across seasons or what patterns can be observed in different seasonal conditions.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 given dataset needs to be </a:t>
            </a:r>
            <a:r>
              <a:rPr lang="en-US" dirty="0" err="1"/>
              <a:t>analysed</a:t>
            </a:r>
            <a:r>
              <a:rPr lang="en-US" dirty="0"/>
              <a:t> to identify seasonal patterns, trends, relationships, and variations in agricultural performance and understand how these differences can support better agricultural planning.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55861"/>
            <a:ext cx="4641182" cy="790111"/>
          </a:xfrm>
        </p:spPr>
        <p:txBody>
          <a:bodyPr>
            <a:normAutofit/>
          </a:bodyPr>
          <a:lstStyle/>
          <a:p>
            <a:r>
              <a:rPr lang="en-US" sz="3200" dirty="0"/>
              <a:t>Problem Statement: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23" y="6420394"/>
            <a:ext cx="3706253" cy="296092"/>
          </a:xfrm>
          <a:prstGeom prst="rect">
            <a:avLst/>
          </a:prstGeom>
          <a:solidFill>
            <a:schemeClr val="bg1"/>
          </a:solidFill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9F8021BB-D8F0-5255-489B-2E15274E68BB}"/>
              </a:ext>
            </a:extLst>
          </p:cNvPr>
          <p:cNvSpPr txBox="1">
            <a:spLocks/>
          </p:cNvSpPr>
          <p:nvPr/>
        </p:nvSpPr>
        <p:spPr>
          <a:xfrm>
            <a:off x="675957" y="355861"/>
            <a:ext cx="4641182" cy="7901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Problem Description:</a:t>
            </a:r>
            <a:endParaRPr lang="en-IN" sz="32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F1C01B1B-B241-DD14-BA2D-60E0B039E4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71003"/>
            <a:ext cx="6742610" cy="4861742"/>
          </a:xfr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dirty="0"/>
              <a:t>Seasonal Agriculture Performance Analysis focuses on analysing agricultural data across different seasons, crops, and regions to understand variations in agricultural performance. </a:t>
            </a:r>
          </a:p>
          <a:p>
            <a:pPr marL="0" indent="0">
              <a:buNone/>
            </a:pPr>
            <a:r>
              <a:rPr lang="en-IN" dirty="0"/>
              <a:t>The project examines key factors such as yield, production, environmental conditions, resource usage, water efficiency, disease risk, and economic performance. </a:t>
            </a:r>
          </a:p>
          <a:p>
            <a:pPr marL="0" indent="0">
              <a:buNone/>
            </a:pPr>
            <a:r>
              <a:rPr lang="en-IN" dirty="0"/>
              <a:t>Using Python-based data cleaning, exploratory data analysis, visualisation, correlation analysis, and statistical techniques, the project identifies important seasonal patterns and relationships and derives evidence-based insights and recommendations for better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C482C970-81D4-65A5-5F0A-02A2452D764A}"/>
              </a:ext>
            </a:extLst>
          </p:cNvPr>
          <p:cNvSpPr txBox="1">
            <a:spLocks/>
          </p:cNvSpPr>
          <p:nvPr/>
        </p:nvSpPr>
        <p:spPr>
          <a:xfrm>
            <a:off x="675956" y="355861"/>
            <a:ext cx="5420043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Who Are The End Users?</a:t>
            </a:r>
            <a:endParaRPr lang="en-IN" sz="32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C8E9246-C1D7-BA23-4431-0D8D733030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1171003"/>
            <a:ext cx="7259445" cy="5331136"/>
          </a:xfr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b="1" dirty="0"/>
              <a:t>Farmers:</a:t>
            </a:r>
            <a:r>
              <a:rPr lang="en-IN" dirty="0"/>
              <a:t> To understand seasonal crop performance, resource requirements, and profitability for better planning. </a:t>
            </a:r>
          </a:p>
          <a:p>
            <a:pPr lvl="0"/>
            <a:r>
              <a:rPr lang="en-IN" b="1" dirty="0"/>
              <a:t>Agricultural Planners:</a:t>
            </a:r>
            <a:r>
              <a:rPr lang="en-IN" dirty="0"/>
              <a:t> To compare seasonal and regional performance and support evidence-based agricultural planning. </a:t>
            </a:r>
          </a:p>
          <a:p>
            <a:pPr lvl="0"/>
            <a:r>
              <a:rPr lang="en-IN" b="1" dirty="0"/>
              <a:t>Agricultural Organisations &amp; Departments:</a:t>
            </a:r>
            <a:r>
              <a:rPr lang="en-IN" dirty="0"/>
              <a:t> To identify seasonal trends, resource needs, and areas requiring further attention. </a:t>
            </a:r>
          </a:p>
          <a:p>
            <a:pPr lvl="0"/>
            <a:r>
              <a:rPr lang="en-IN" b="1" dirty="0"/>
              <a:t>Agribusiness &amp; Resource Managers:</a:t>
            </a:r>
            <a:r>
              <a:rPr lang="en-IN" dirty="0"/>
              <a:t> To evaluate production, costs, water efficiency, and profitability across seasons. </a:t>
            </a:r>
          </a:p>
          <a:p>
            <a:pPr lvl="0"/>
            <a:r>
              <a:rPr lang="en-IN" b="1" dirty="0"/>
              <a:t>Researchers &amp; Analysts:</a:t>
            </a:r>
            <a:r>
              <a:rPr lang="en-IN" dirty="0"/>
              <a:t> To study relationships between environmental conditions, farming practices, and agricultural outcomes.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52DBCCDC-0FB6-C6A9-393A-8A16E9E764FF}"/>
              </a:ext>
            </a:extLst>
          </p:cNvPr>
          <p:cNvSpPr txBox="1">
            <a:spLocks/>
          </p:cNvSpPr>
          <p:nvPr/>
        </p:nvSpPr>
        <p:spPr>
          <a:xfrm>
            <a:off x="675956" y="355861"/>
            <a:ext cx="5420043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Technology Used:</a:t>
            </a:r>
            <a:endParaRPr lang="en-IN" sz="3200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580D7374-71A9-144F-B404-32F4493EFD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1171003"/>
            <a:ext cx="8491897" cy="301002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b="1" dirty="0"/>
              <a:t>Python</a:t>
            </a:r>
            <a:r>
              <a:rPr lang="en-IN" dirty="0"/>
              <a:t> – Programming language used for data analysis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Jupyter Notebook</a:t>
            </a:r>
            <a:r>
              <a:rPr lang="en-IN" dirty="0"/>
              <a:t> – Environment used to perform and document the analysis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Pandas</a:t>
            </a:r>
            <a:r>
              <a:rPr lang="en-IN" dirty="0"/>
              <a:t> – Data cleaning, manipulation, and analysis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NumPy</a:t>
            </a:r>
            <a:r>
              <a:rPr lang="en-IN" dirty="0"/>
              <a:t> – Numerical and statistical operations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Matplotlib</a:t>
            </a:r>
            <a:r>
              <a:rPr lang="en-IN" dirty="0"/>
              <a:t> – Data visualisation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Seaborn</a:t>
            </a:r>
            <a:r>
              <a:rPr lang="en-IN" dirty="0"/>
              <a:t> – Statistical and advanced visualisations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04ACBDA-3881-15EE-7AF7-E00B9C989326}"/>
              </a:ext>
            </a:extLst>
          </p:cNvPr>
          <p:cNvSpPr txBox="1">
            <a:spLocks/>
          </p:cNvSpPr>
          <p:nvPr/>
        </p:nvSpPr>
        <p:spPr>
          <a:xfrm>
            <a:off x="675956" y="284302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Seasonal Agricultural Performance: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72393-9A6E-EAD0-CCB3-D1A5A7494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45" y="1169344"/>
            <a:ext cx="3343561" cy="32210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625E25-9643-E97A-91D0-32B0B6BCB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3" y="1160098"/>
            <a:ext cx="3335291" cy="32210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ABDA7DE3-B60A-DDD6-4302-2E65D2BEF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873" y="4507840"/>
            <a:ext cx="6944133" cy="2266220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500" b="1" dirty="0"/>
              <a:t>Key Findings:</a:t>
            </a:r>
            <a:endParaRPr lang="en-IN" sz="1500" dirty="0"/>
          </a:p>
          <a:p>
            <a:pPr lvl="0"/>
            <a:r>
              <a:rPr lang="en-IN" sz="1500" dirty="0"/>
              <a:t>Kharif recorded the highest average yield (</a:t>
            </a:r>
            <a:r>
              <a:rPr lang="en-IN" sz="1500" b="1" dirty="0"/>
              <a:t>5.63 tonnes/ha</a:t>
            </a:r>
            <a:r>
              <a:rPr lang="en-IN" sz="1500" dirty="0"/>
              <a:t>) and production (</a:t>
            </a:r>
            <a:r>
              <a:rPr lang="en-IN" sz="1500" b="1" dirty="0"/>
              <a:t>46.31 tonnes</a:t>
            </a:r>
            <a:r>
              <a:rPr lang="en-IN" sz="1500" dirty="0"/>
              <a:t>). </a:t>
            </a:r>
          </a:p>
          <a:p>
            <a:pPr lvl="0"/>
            <a:r>
              <a:rPr lang="en-IN" sz="1500" dirty="0"/>
              <a:t>Kharif also achieved the highest average revenue (</a:t>
            </a:r>
            <a:r>
              <a:rPr lang="en-IN" sz="1500" b="1" dirty="0"/>
              <a:t>₹7.11 lakh</a:t>
            </a:r>
            <a:r>
              <a:rPr lang="en-IN" sz="1500" dirty="0"/>
              <a:t>) and profit (</a:t>
            </a:r>
            <a:r>
              <a:rPr lang="en-IN" sz="1500" b="1" dirty="0"/>
              <a:t>₹1.79 lakh</a:t>
            </a:r>
            <a:r>
              <a:rPr lang="en-IN" sz="1500" dirty="0"/>
              <a:t>). </a:t>
            </a:r>
          </a:p>
          <a:p>
            <a:pPr lvl="0"/>
            <a:r>
              <a:rPr lang="en-IN" sz="1500" dirty="0"/>
              <a:t>Zaid recorded the lowest performance across these major indicators. </a:t>
            </a:r>
          </a:p>
          <a:p>
            <a:pPr marL="0" indent="0">
              <a:buNone/>
            </a:pPr>
            <a:r>
              <a:rPr lang="en-IN" sz="1500" b="1" dirty="0"/>
              <a:t>Key Takeaway: Kharif emerged as the strongest-performing season overall.</a:t>
            </a:r>
            <a:endParaRPr lang="en-IN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81BC831-39CC-F5E1-DAA8-DEAD752AC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286" y="1074413"/>
            <a:ext cx="4630789" cy="46107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70325-2D93-6C5F-FC01-A9CEBAB4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913EE5-063C-1F88-FC4D-D99C91B843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FFA8774-F55D-53DC-5F9C-187315C4D54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C5229553-441B-325F-3F88-9CAA8A35026A}"/>
              </a:ext>
            </a:extLst>
          </p:cNvPr>
          <p:cNvSpPr txBox="1">
            <a:spLocks/>
          </p:cNvSpPr>
          <p:nvPr/>
        </p:nvSpPr>
        <p:spPr>
          <a:xfrm>
            <a:off x="675956" y="276351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Seasonal Environmental Conditions: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AE7422B-C65C-CEA1-57A4-6E927B0537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4778634"/>
            <a:ext cx="10840087" cy="1956121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500" b="1" dirty="0"/>
              <a:t>Key Findings:</a:t>
            </a:r>
            <a:endParaRPr lang="en-IN" sz="1500" dirty="0"/>
          </a:p>
          <a:p>
            <a:pPr lvl="0"/>
            <a:r>
              <a:rPr lang="en-US" sz="1500" dirty="0"/>
              <a:t>Kharif had the highest rainfall (</a:t>
            </a:r>
            <a:r>
              <a:rPr lang="en-US" sz="1500" b="1" dirty="0"/>
              <a:t>852.11 mm</a:t>
            </a:r>
            <a:r>
              <a:rPr lang="en-US" sz="1500" dirty="0"/>
              <a:t>), humidity (</a:t>
            </a:r>
            <a:r>
              <a:rPr lang="en-US" sz="1500" b="1" dirty="0"/>
              <a:t>71.81%</a:t>
            </a:r>
            <a:r>
              <a:rPr lang="en-US" sz="1500" dirty="0"/>
              <a:t>), and soil moisture (</a:t>
            </a:r>
            <a:r>
              <a:rPr lang="en-US" sz="1500" b="1" dirty="0"/>
              <a:t>31.20%</a:t>
            </a:r>
            <a:r>
              <a:rPr lang="en-US" sz="1500" dirty="0"/>
              <a:t>). </a:t>
            </a:r>
          </a:p>
          <a:p>
            <a:pPr lvl="0"/>
            <a:r>
              <a:rPr lang="en-US" sz="1500" dirty="0"/>
              <a:t>Zaid had the highest average temperature (</a:t>
            </a:r>
            <a:r>
              <a:rPr lang="en-US" sz="1500" b="1" dirty="0"/>
              <a:t>31.04°C</a:t>
            </a:r>
            <a:r>
              <a:rPr lang="en-US" sz="1500" dirty="0"/>
              <a:t>) and sunlight (</a:t>
            </a:r>
            <a:r>
              <a:rPr lang="en-US" sz="1500" b="1" dirty="0"/>
              <a:t>8.18 hours/day</a:t>
            </a:r>
            <a:r>
              <a:rPr lang="en-US" sz="1500" dirty="0"/>
              <a:t>). </a:t>
            </a:r>
          </a:p>
          <a:p>
            <a:pPr lvl="0"/>
            <a:r>
              <a:rPr lang="en-US" sz="1500" dirty="0"/>
              <a:t>Rabi generally showed moderate environmental conditions between the two seasons.</a:t>
            </a:r>
          </a:p>
          <a:p>
            <a:pPr marL="0" indent="0">
              <a:buNone/>
            </a:pPr>
            <a:r>
              <a:rPr lang="en-IN" sz="1500" b="1" dirty="0"/>
              <a:t>Key Takeaway: Environmental conditions vary considerably across seasons, with Kharif being wetter and Zaid being hotter and drier.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E0B6E3-F5B3-BCC7-B771-C1B595CC9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903" y="1039313"/>
            <a:ext cx="4366801" cy="36359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AD9E4E-97AC-42EC-89D2-43CCEF639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461" y="1011919"/>
            <a:ext cx="3903329" cy="3663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323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D3C51-6796-4A02-296A-DD9CA7D80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54C3AA-38F7-3BDB-F1C2-9ACB6D60F2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F9E456A-12D4-2286-521E-D8E07B343EF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C9F49EDC-ED6B-F028-997D-1D9F3FB64CAF}"/>
              </a:ext>
            </a:extLst>
          </p:cNvPr>
          <p:cNvSpPr txBox="1">
            <a:spLocks/>
          </p:cNvSpPr>
          <p:nvPr/>
        </p:nvSpPr>
        <p:spPr>
          <a:xfrm>
            <a:off x="675956" y="276351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Crop Performance Across Seasons: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4BF265F-41D1-5BB2-D31C-8CB498531D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4916552"/>
            <a:ext cx="7000983" cy="1867706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200" b="1" dirty="0"/>
              <a:t>Key Findings:</a:t>
            </a:r>
            <a:endParaRPr lang="en-IN" sz="1200" dirty="0"/>
          </a:p>
          <a:p>
            <a:pPr lvl="0"/>
            <a:r>
              <a:rPr lang="en-US" sz="1200" b="1" dirty="0"/>
              <a:t>Sugarcane had substantially higher yield levels</a:t>
            </a:r>
            <a:r>
              <a:rPr lang="en-US" sz="1200" dirty="0"/>
              <a:t> than the other crops across all seasons. </a:t>
            </a:r>
          </a:p>
          <a:p>
            <a:pPr lvl="0"/>
            <a:r>
              <a:rPr lang="en-US" sz="1200" dirty="0"/>
              <a:t>Kharif generally recorded the highest yield across crops, while Zaid showed the lowest. </a:t>
            </a:r>
          </a:p>
          <a:p>
            <a:pPr lvl="0"/>
            <a:r>
              <a:rPr lang="en-US" sz="1200" dirty="0"/>
              <a:t>Crop performance varies across seasons, indicating that seasonal conditions affect different crops differently.</a:t>
            </a:r>
          </a:p>
          <a:p>
            <a:pPr marL="0" indent="0">
              <a:buNone/>
            </a:pPr>
            <a:r>
              <a:rPr lang="en-IN" sz="1200" b="1" dirty="0"/>
              <a:t>Key Takeaway: </a:t>
            </a:r>
            <a:r>
              <a:rPr lang="en-US" sz="1200" b="1" dirty="0"/>
              <a:t>Crop selection should consider seasonal performance rather than using the same crop strategy across all seasons.</a:t>
            </a:r>
            <a:endParaRPr lang="en-IN" sz="1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5BC47-9BBD-72E4-F23F-48ED95EA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275" y="946050"/>
            <a:ext cx="3962743" cy="56164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85DFB5-2F05-3E14-C20F-C60F334E2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177" y="946050"/>
            <a:ext cx="5322438" cy="38953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475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ED2D-A9CF-AB4B-2431-EC7C41E8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F8E730-1DF7-9BE6-F2B6-85191BF835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6A1AC11-AC37-9E62-C90E-0BEB5E35948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3818C11-1F99-18C3-F1D0-28D1107B785D}"/>
              </a:ext>
            </a:extLst>
          </p:cNvPr>
          <p:cNvSpPr txBox="1">
            <a:spLocks/>
          </p:cNvSpPr>
          <p:nvPr/>
        </p:nvSpPr>
        <p:spPr>
          <a:xfrm>
            <a:off x="675956" y="276351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Water Usage &amp; Efficiency: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E4FC85EE-0694-EA0B-68C4-41F3EEE135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4876797"/>
            <a:ext cx="10758960" cy="1907461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b="1" dirty="0"/>
              <a:t>Key Findings:</a:t>
            </a:r>
            <a:endParaRPr lang="en-IN" sz="1400" dirty="0"/>
          </a:p>
          <a:p>
            <a:pPr lvl="0"/>
            <a:r>
              <a:rPr lang="en-US" sz="1400" dirty="0"/>
              <a:t>Zaid had the highest average water usage (</a:t>
            </a:r>
            <a:r>
              <a:rPr lang="en-US" sz="1400" b="1" dirty="0"/>
              <a:t>6,419.89 m³</a:t>
            </a:r>
            <a:r>
              <a:rPr lang="en-US" sz="1400" dirty="0"/>
              <a:t>). </a:t>
            </a:r>
          </a:p>
          <a:p>
            <a:pPr lvl="0"/>
            <a:r>
              <a:rPr lang="en-US" sz="1400" dirty="0"/>
              <a:t>Kharif achieved the highest water efficiency (</a:t>
            </a:r>
            <a:r>
              <a:rPr lang="en-US" sz="1400" b="1" dirty="0"/>
              <a:t>5.89</a:t>
            </a:r>
            <a:r>
              <a:rPr lang="en-US" sz="1400" dirty="0"/>
              <a:t>) with lower water usage than Zaid. </a:t>
            </a:r>
          </a:p>
          <a:p>
            <a:pPr lvl="0"/>
            <a:r>
              <a:rPr lang="en-US" sz="1400" dirty="0"/>
              <a:t>Zaid had the lowest water efficiency (</a:t>
            </a:r>
            <a:r>
              <a:rPr lang="en-US" sz="1400" b="1" dirty="0"/>
              <a:t>4.41</a:t>
            </a:r>
            <a:r>
              <a:rPr lang="en-US" sz="1400" dirty="0"/>
              <a:t>) and yield (</a:t>
            </a:r>
            <a:r>
              <a:rPr lang="en-US" sz="1400" b="1" dirty="0"/>
              <a:t>4.63 </a:t>
            </a:r>
            <a:r>
              <a:rPr lang="en-US" sz="1400" b="1" dirty="0" err="1"/>
              <a:t>tonnes</a:t>
            </a:r>
            <a:r>
              <a:rPr lang="en-US" sz="1400" b="1" dirty="0"/>
              <a:t>/ha</a:t>
            </a:r>
            <a:r>
              <a:rPr lang="en-US" sz="1400" dirty="0"/>
              <a:t>).</a:t>
            </a:r>
          </a:p>
          <a:p>
            <a:pPr marL="0" indent="0">
              <a:buNone/>
            </a:pPr>
            <a:r>
              <a:rPr lang="en-IN" sz="1400" b="1" dirty="0"/>
              <a:t>Key Takeaway: </a:t>
            </a:r>
            <a:r>
              <a:rPr lang="en-US" sz="1400" b="1" dirty="0"/>
              <a:t>Higher water usage did not necessarily result in better agricultural performance; efficient water use is more important than simply increasing water consumption.</a:t>
            </a:r>
            <a:endParaRPr lang="en-IN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88E174-3E34-0316-2E75-FC5D9BCD7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276" y="961952"/>
            <a:ext cx="3861405" cy="37817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1BCD45-CCFE-D2CC-A1C0-F62877F4B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82" y="961952"/>
            <a:ext cx="4906854" cy="36613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420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F512-470B-A058-C4DF-A915309E1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CE573F-344C-6154-8BF7-9126EE0F88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D9E63E7-21B2-BE03-519F-B2CDDA61D10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D3EA908-5F9E-0283-086B-0B51BB17F6B8}"/>
              </a:ext>
            </a:extLst>
          </p:cNvPr>
          <p:cNvSpPr txBox="1">
            <a:spLocks/>
          </p:cNvSpPr>
          <p:nvPr/>
        </p:nvSpPr>
        <p:spPr>
          <a:xfrm>
            <a:off x="675956" y="276351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Seasonal Economic Performance: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FA880DED-F311-05DD-3636-62825EC488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4683319"/>
            <a:ext cx="10980656" cy="2061610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500" b="1" dirty="0"/>
              <a:t>Key Findings:</a:t>
            </a:r>
            <a:endParaRPr lang="en-IN" sz="1500" dirty="0"/>
          </a:p>
          <a:p>
            <a:pPr lvl="0"/>
            <a:r>
              <a:rPr lang="en-IN" sz="1500" dirty="0"/>
              <a:t>Kharif generated the highest total revenue (</a:t>
            </a:r>
            <a:r>
              <a:rPr lang="en-IN" sz="1500" b="1" dirty="0"/>
              <a:t>₹126.44 crore</a:t>
            </a:r>
            <a:r>
              <a:rPr lang="en-IN" sz="1500" dirty="0"/>
              <a:t>) and profit (</a:t>
            </a:r>
            <a:r>
              <a:rPr lang="en-IN" sz="1500" b="1" dirty="0"/>
              <a:t>₹31.83 crore</a:t>
            </a:r>
            <a:r>
              <a:rPr lang="en-IN" sz="1500" dirty="0"/>
              <a:t>). </a:t>
            </a:r>
          </a:p>
          <a:p>
            <a:pPr lvl="0"/>
            <a:r>
              <a:rPr lang="en-IN" sz="1500" dirty="0"/>
              <a:t>Kharif also achieved the highest profit margin (</a:t>
            </a:r>
            <a:r>
              <a:rPr lang="en-IN" sz="1500" b="1" dirty="0"/>
              <a:t>25.17%</a:t>
            </a:r>
            <a:r>
              <a:rPr lang="en-IN" sz="1500" dirty="0"/>
              <a:t>). </a:t>
            </a:r>
          </a:p>
          <a:p>
            <a:pPr lvl="0"/>
            <a:r>
              <a:rPr lang="en-IN" sz="1500" dirty="0"/>
              <a:t>Rabi recorded a profit margin of </a:t>
            </a:r>
            <a:r>
              <a:rPr lang="en-IN" sz="1500" b="1" dirty="0"/>
              <a:t>14.58%</a:t>
            </a:r>
            <a:r>
              <a:rPr lang="en-IN" sz="1500" dirty="0"/>
              <a:t>, while Zaid had a negative margin of </a:t>
            </a:r>
            <a:r>
              <a:rPr lang="en-IN" sz="1500" b="1" dirty="0"/>
              <a:t>-4.78%</a:t>
            </a:r>
            <a:r>
              <a:rPr lang="en-IN" sz="1500" dirty="0"/>
              <a:t>.</a:t>
            </a:r>
          </a:p>
          <a:p>
            <a:pPr marL="0" indent="0">
              <a:buNone/>
            </a:pPr>
            <a:r>
              <a:rPr lang="en-IN" sz="1500" b="1" dirty="0"/>
              <a:t>Key Takeaway: Kharif was the most economically efficient season, while Zaid showed the weakest financial performance.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3A1B5B-CB53-BBC7-B2A3-4A1A9E99E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5" y="1012614"/>
            <a:ext cx="4577020" cy="33826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B4845C-6A62-A5ED-16E1-AF3910907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202" y="1242294"/>
            <a:ext cx="3180739" cy="29232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A6A42A-BCE3-23EA-0643-FA1E705DF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679" y="1444145"/>
            <a:ext cx="4123877" cy="25195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151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8738-E33A-E570-A5D2-78260ED3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40CF5F-36E9-9466-D01E-6EB5129918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B362F5D-5743-3B43-A49F-729CA917EE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050BF83-513E-8D65-F08E-A8CE3E90F6BA}"/>
              </a:ext>
            </a:extLst>
          </p:cNvPr>
          <p:cNvSpPr txBox="1">
            <a:spLocks/>
          </p:cNvSpPr>
          <p:nvPr/>
        </p:nvSpPr>
        <p:spPr>
          <a:xfrm>
            <a:off x="675956" y="276351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Key Relationships Between Variables: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DEFCBF-9F79-F7D3-0FDD-1305E0B004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11548" y="1368613"/>
            <a:ext cx="4118774" cy="4650525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500" b="1" dirty="0"/>
              <a:t>Key Findings:</a:t>
            </a:r>
            <a:endParaRPr lang="en-IN" sz="1500" dirty="0"/>
          </a:p>
          <a:p>
            <a:pPr lvl="0"/>
            <a:r>
              <a:rPr lang="en-IN" sz="1500" dirty="0"/>
              <a:t>Yield has a strong positive correlation with </a:t>
            </a:r>
            <a:r>
              <a:rPr lang="en-IN" sz="1500" b="1" dirty="0"/>
              <a:t>Water Efficiency (0.92)</a:t>
            </a:r>
            <a:r>
              <a:rPr lang="en-IN" sz="1500" dirty="0"/>
              <a:t> and </a:t>
            </a:r>
            <a:r>
              <a:rPr lang="en-IN" sz="1500" b="1" dirty="0"/>
              <a:t>Production (0.89)</a:t>
            </a:r>
            <a:r>
              <a:rPr lang="en-IN" sz="1500" dirty="0"/>
              <a:t>. </a:t>
            </a:r>
          </a:p>
          <a:p>
            <a:pPr lvl="0"/>
            <a:r>
              <a:rPr lang="en-IN" sz="1500" dirty="0"/>
              <a:t>Farm Area has a strong positive correlation with </a:t>
            </a:r>
            <a:r>
              <a:rPr lang="en-IN" sz="1500" b="1" dirty="0"/>
              <a:t>Total Cost (0.96)</a:t>
            </a:r>
            <a:r>
              <a:rPr lang="en-IN" sz="1500" dirty="0"/>
              <a:t>. </a:t>
            </a:r>
          </a:p>
          <a:p>
            <a:pPr lvl="0"/>
            <a:r>
              <a:rPr lang="en-IN" sz="1500" dirty="0"/>
              <a:t>Revenue and Profit also show a strong positive correlation (</a:t>
            </a:r>
            <a:r>
              <a:rPr lang="en-IN" sz="1500" b="1" dirty="0"/>
              <a:t>0.89</a:t>
            </a:r>
            <a:r>
              <a:rPr lang="en-IN" sz="1500" dirty="0"/>
              <a:t>). </a:t>
            </a:r>
          </a:p>
          <a:p>
            <a:pPr lvl="0"/>
            <a:r>
              <a:rPr lang="en-IN" sz="1500" dirty="0"/>
              <a:t>Environmental factors such as rainfall, temperature, humidity, and soil moisture show </a:t>
            </a:r>
            <a:r>
              <a:rPr lang="en-IN" sz="1500" b="1" dirty="0"/>
              <a:t>very weak linear relationships with yield</a:t>
            </a:r>
            <a:r>
              <a:rPr lang="en-IN" sz="1500" dirty="0"/>
              <a:t>.</a:t>
            </a:r>
          </a:p>
          <a:p>
            <a:pPr marL="0" indent="0">
              <a:buNone/>
            </a:pPr>
            <a:r>
              <a:rPr lang="en-IN" sz="1500" b="1" dirty="0"/>
              <a:t>Key Takeaway: Agricultural performance is more strongly associated with production and resource efficiency than with any single environmental factor.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167848-B7C9-1C57-EC30-5AF00CA75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3" y="968831"/>
            <a:ext cx="7526955" cy="5789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367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DF29-4983-C3FE-C924-108B5AB8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49D09-8CEF-EFC5-6458-E329B3A205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0B29584-2C42-EADF-0815-B216F6AAE0D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1AEC1B6-6871-63F0-56ED-0A4B872C00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CD360911-176D-4248-14C3-972756BFA3EE}"/>
              </a:ext>
            </a:extLst>
          </p:cNvPr>
          <p:cNvSpPr txBox="1">
            <a:spLocks/>
          </p:cNvSpPr>
          <p:nvPr/>
        </p:nvSpPr>
        <p:spPr>
          <a:xfrm>
            <a:off x="675956" y="276351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Overall Key Findings: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74A20A6-6ECA-EF82-33DE-42A1A82CD1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1171004"/>
            <a:ext cx="9000781" cy="4856086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b="1" dirty="0"/>
              <a:t>Kharif emerged as the best-performing season</a:t>
            </a:r>
            <a:r>
              <a:rPr lang="en-IN" dirty="0"/>
              <a:t>, with the highest yield, production, revenue, profit, and water efficiency. </a:t>
            </a:r>
          </a:p>
          <a:p>
            <a:pPr lvl="0"/>
            <a:r>
              <a:rPr lang="en-IN" b="1" dirty="0"/>
              <a:t>Zaid showed the weakest overall performance</a:t>
            </a:r>
            <a:r>
              <a:rPr lang="en-IN" dirty="0"/>
              <a:t>, with lower yield and revenue, higher water usage, and a negative profit margin. </a:t>
            </a:r>
          </a:p>
          <a:p>
            <a:pPr lvl="0"/>
            <a:r>
              <a:rPr lang="en-IN" b="1" dirty="0"/>
              <a:t>Crop performance varied across seasons</a:t>
            </a:r>
            <a:r>
              <a:rPr lang="en-IN" dirty="0"/>
              <a:t>, with Sugarcane showing substantially higher yields than the other crops. </a:t>
            </a:r>
          </a:p>
          <a:p>
            <a:pPr lvl="0"/>
            <a:r>
              <a:rPr lang="en-IN" b="1" dirty="0"/>
              <a:t>Regional performance varied by season</a:t>
            </a:r>
            <a:r>
              <a:rPr lang="en-IN" dirty="0"/>
              <a:t>, with different states and districts performing better under different seasonal conditions. </a:t>
            </a:r>
          </a:p>
          <a:p>
            <a:pPr lvl="0"/>
            <a:r>
              <a:rPr lang="en-IN" b="1" dirty="0"/>
              <a:t>Water efficiency showed a strong association with yield</a:t>
            </a:r>
            <a:r>
              <a:rPr lang="en-IN" dirty="0"/>
              <a:t>, while individual environmental factors had very weak linear relationships with yield. </a:t>
            </a:r>
          </a:p>
          <a:p>
            <a:pPr lvl="0"/>
            <a:r>
              <a:rPr lang="en-IN" b="1" dirty="0"/>
              <a:t>Seasonal differences have both agricultural and economic impacts</a:t>
            </a:r>
            <a:r>
              <a:rPr lang="en-IN" dirty="0"/>
              <a:t>, highlighting the need for season-specific crop and resource planning.</a:t>
            </a:r>
          </a:p>
        </p:txBody>
      </p:sp>
    </p:spTree>
    <p:extLst>
      <p:ext uri="{BB962C8B-B14F-4D97-AF65-F5344CB8AC3E}">
        <p14:creationId xmlns:p14="http://schemas.microsoft.com/office/powerpoint/2010/main" val="217904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/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76D3F043-472D-D0CB-CE3C-C1E32A68B82B}"/>
              </a:ext>
            </a:extLst>
          </p:cNvPr>
          <p:cNvSpPr txBox="1">
            <a:spLocks/>
          </p:cNvSpPr>
          <p:nvPr/>
        </p:nvSpPr>
        <p:spPr>
          <a:xfrm>
            <a:off x="675956" y="276351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Future Scope: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1177DA9A-2C17-C3EB-46F9-1612830B8D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1171003"/>
            <a:ext cx="9000781" cy="5221846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b="1" dirty="0"/>
              <a:t>Predictive Analysis:</a:t>
            </a:r>
            <a:r>
              <a:rPr lang="en-IN" dirty="0"/>
              <a:t> Develop machine learning models to predict crop yield, production, and profitability based on seasonal and farming conditions.</a:t>
            </a:r>
          </a:p>
          <a:p>
            <a:pPr lvl="0"/>
            <a:r>
              <a:rPr lang="en-IN" b="1" dirty="0"/>
              <a:t>Real-Time Data Integration:</a:t>
            </a:r>
            <a:r>
              <a:rPr lang="en-IN" dirty="0"/>
              <a:t> Incorporate real-time weather, soil, and market-price data for more timely agricultural insights.</a:t>
            </a:r>
          </a:p>
          <a:p>
            <a:pPr lvl="0"/>
            <a:r>
              <a:rPr lang="en-IN" b="1" dirty="0"/>
              <a:t>Long-Term Trend Analysis:</a:t>
            </a:r>
            <a:r>
              <a:rPr lang="en-IN" dirty="0"/>
              <a:t> Use multi-year agricultural data to study long-term seasonal and regional trends.</a:t>
            </a:r>
          </a:p>
          <a:p>
            <a:pPr lvl="0"/>
            <a:r>
              <a:rPr lang="en-IN" b="1" dirty="0"/>
              <a:t>Advanced Resource Optimisation:</a:t>
            </a:r>
            <a:r>
              <a:rPr lang="en-IN" dirty="0"/>
              <a:t> Develop models to recommend efficient irrigation, fertiliser, and pesticide usage.</a:t>
            </a:r>
          </a:p>
          <a:p>
            <a:pPr lvl="0"/>
            <a:r>
              <a:rPr lang="en-IN" b="1" dirty="0"/>
              <a:t>Crop Recommendation:</a:t>
            </a:r>
            <a:r>
              <a:rPr lang="en-IN" dirty="0"/>
              <a:t> Build a system that recommends suitable crops for specific seasons and regional conditions.</a:t>
            </a:r>
          </a:p>
          <a:p>
            <a:pPr lvl="0"/>
            <a:r>
              <a:rPr lang="en-IN" b="1" dirty="0"/>
              <a:t>Decision Support System:</a:t>
            </a:r>
            <a:r>
              <a:rPr lang="en-IN" dirty="0"/>
              <a:t> Extend the project into an interactive dashboard or decision-support tool to help farmers and agricultural planners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/>
      <p:bldP spid="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FD56487-E2A9-94A8-9A08-6A7B10D3FC74}"/>
              </a:ext>
            </a:extLst>
          </p:cNvPr>
          <p:cNvSpPr txBox="1">
            <a:spLocks/>
          </p:cNvSpPr>
          <p:nvPr/>
        </p:nvSpPr>
        <p:spPr>
          <a:xfrm>
            <a:off x="675956" y="276351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GitHub Link: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49AEA5D-21C9-AB3A-EA97-E4F46DD126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71004"/>
            <a:ext cx="7625206" cy="1930006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lvl="0" indent="0">
              <a:buNone/>
            </a:pPr>
            <a:r>
              <a:rPr lang="en-IN" sz="2500" b="1" dirty="0"/>
              <a:t>Project GitHub Repository -</a:t>
            </a:r>
          </a:p>
          <a:p>
            <a:pPr lvl="0"/>
            <a:r>
              <a:rPr lang="en-IN" sz="2500" dirty="0"/>
              <a:t>📁 Seasonal Agriculture Performance Analysis</a:t>
            </a:r>
            <a:br>
              <a:rPr lang="en-IN" sz="2500" dirty="0"/>
            </a:br>
            <a:r>
              <a:rPr lang="en-IN" sz="2500" dirty="0"/>
              <a:t>🔗 </a:t>
            </a:r>
            <a:r>
              <a:rPr lang="en-IN" sz="2500" b="1" dirty="0">
                <a:hlinkClick r:id="rId3"/>
              </a:rPr>
              <a:t>View Source Code &amp; Notebook</a:t>
            </a:r>
            <a:endParaRPr lang="en-IN" sz="2500" b="1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/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D14D6E5-9A7C-70C1-480E-EE8D3EBB96B4}"/>
              </a:ext>
            </a:extLst>
          </p:cNvPr>
          <p:cNvSpPr txBox="1">
            <a:spLocks/>
          </p:cNvSpPr>
          <p:nvPr/>
        </p:nvSpPr>
        <p:spPr>
          <a:xfrm>
            <a:off x="675955" y="276351"/>
            <a:ext cx="9239321" cy="11628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Name: Data Visualisation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FA33F3-B911-38DA-9471-328B2646F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936" y="1455088"/>
            <a:ext cx="7490127" cy="52994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74D35C1C-1797-1673-EA28-772E38D69715}"/>
              </a:ext>
            </a:extLst>
          </p:cNvPr>
          <p:cNvSpPr txBox="1">
            <a:spLocks/>
          </p:cNvSpPr>
          <p:nvPr/>
        </p:nvSpPr>
        <p:spPr>
          <a:xfrm>
            <a:off x="1909686" y="2422242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1584</TotalTime>
  <Words>1089</Words>
  <Application>Microsoft Office PowerPoint</Application>
  <PresentationFormat>Widescreen</PresentationFormat>
  <Paragraphs>84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Statement: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SANTOSH J</cp:lastModifiedBy>
  <cp:revision>106</cp:revision>
  <dcterms:created xsi:type="dcterms:W3CDTF">2021-07-11T13:13:15Z</dcterms:created>
  <dcterms:modified xsi:type="dcterms:W3CDTF">2026-09-15T12:56:02Z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