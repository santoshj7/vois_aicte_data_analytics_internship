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53" r:id="rId11"/>
    <p:sldId id="354" r:id="rId12"/>
    <p:sldId id="355" r:id="rId13"/>
    <p:sldId id="356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6" d="100"/>
          <a:sy n="96" d="100"/>
        </p:scale>
        <p:origin x="82" y="6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hyperlink" Target="https://github.com/santoshj7/VOIS_AICTE_Data_Analytics_Internship/tree/main/DIY_Projects/Healthcare%20Analytics_for_Doctor_Visits" TargetMode="Externa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4735" y="2834665"/>
            <a:ext cx="7990249" cy="18088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Student Name:	SANTHOSHA J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	Ballari Institute of Technology and Management</a:t>
            </a:r>
          </a:p>
          <a:p>
            <a:r>
              <a:rPr lang="en-IN" b="0" dirty="0">
                <a:solidFill>
                  <a:schemeClr val="tx1"/>
                </a:solidFill>
              </a:rPr>
              <a:t>AICTE STU ID:  	STU6903150a9baac1761809674 </a:t>
            </a:r>
          </a:p>
          <a:p>
            <a:r>
              <a:rPr lang="en-IN" b="0" dirty="0">
                <a:solidFill>
                  <a:schemeClr val="tx1"/>
                </a:solidFill>
              </a:rPr>
              <a:t>GitHub Link:     </a:t>
            </a:r>
            <a:r>
              <a:rPr lang="en-US" b="0" dirty="0">
                <a:solidFill>
                  <a:schemeClr val="tx1"/>
                </a:solidFill>
                <a:hlinkClick r:id="rId2"/>
              </a:rPr>
              <a:t>🔗 View Source Code &amp; Notebook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735" y="1650265"/>
            <a:ext cx="9662529" cy="684424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algn="ctr"/>
            <a:r>
              <a:rPr lang="en-US" sz="3200" b="1" dirty="0"/>
              <a:t>Healthcare Analytics For Doctor Visit TIRTC</a:t>
            </a:r>
            <a:endParaRPr lang="en-IN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71003"/>
            <a:ext cx="6742610" cy="3583877"/>
          </a:xfr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dirty="0"/>
              <a:t>The Doctor Visits dataset contains information about individuals' doctor visits, demographic characteristics, income, illness, health status, chronic conditions, and healthcare coverage.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The objective is to explore the dataset and identify patterns and relationships between these factors and the frequency of doctor visits.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The analysis will focus on understanding how demographic, health-related, and healthcare-access factors are associated with doctor visit patterns.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92253"/>
            <a:ext cx="4641182" cy="790111"/>
          </a:xfrm>
        </p:spPr>
        <p:txBody>
          <a:bodyPr anchor="ctr">
            <a:normAutofit/>
          </a:bodyPr>
          <a:lstStyle/>
          <a:p>
            <a:r>
              <a:rPr lang="en-US" sz="3200" dirty="0"/>
              <a:t>Problem Statement: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23" y="6420394"/>
            <a:ext cx="3706253" cy="296092"/>
          </a:xfrm>
          <a:prstGeom prst="rect">
            <a:avLst/>
          </a:prstGeom>
          <a:solidFill>
            <a:schemeClr val="bg1"/>
          </a:solidFill>
          <a:effectLst>
            <a:outerShdw blurRad="50800" dist="50800" dir="5400000" algn="ctr" rotWithShape="0">
              <a:schemeClr val="bg1"/>
            </a:outerShdw>
          </a:effec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9F8021BB-D8F0-5255-489B-2E15274E68BB}"/>
              </a:ext>
            </a:extLst>
          </p:cNvPr>
          <p:cNvSpPr txBox="1">
            <a:spLocks/>
          </p:cNvSpPr>
          <p:nvPr/>
        </p:nvSpPr>
        <p:spPr>
          <a:xfrm>
            <a:off x="675957" y="292253"/>
            <a:ext cx="4641182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Project Description:</a:t>
            </a:r>
            <a:endParaRPr lang="en-IN" sz="32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1C01B1B-B241-DD14-BA2D-60E0B039E4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71003"/>
            <a:ext cx="6742610" cy="3432802"/>
          </a:xfr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dirty="0"/>
              <a:t>This project explores the factors associated with doctor visits using Exploratory Data Analysis (EDA). It examines demographic, economic, health, and healthcare coverage variables to identify patterns in healthcare utilisation.</a:t>
            </a:r>
          </a:p>
          <a:p>
            <a:pPr marL="0" indent="0">
              <a:buNone/>
            </a:pPr>
            <a:r>
              <a:rPr lang="en-IN" dirty="0"/>
              <a:t>The analysis uses Python-based data cleaning, exploratory data analysis, statistical summaries and visualisations to understand doctor visit frequency and relationships between key variables, providing insights that can support data-driven healthcare decisions.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C482C970-81D4-65A5-5F0A-02A2452D764A}"/>
              </a:ext>
            </a:extLst>
          </p:cNvPr>
          <p:cNvSpPr txBox="1">
            <a:spLocks/>
          </p:cNvSpPr>
          <p:nvPr/>
        </p:nvSpPr>
        <p:spPr>
          <a:xfrm>
            <a:off x="675956" y="292253"/>
            <a:ext cx="5420043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Who Are The End Users?</a:t>
            </a:r>
            <a:endParaRPr lang="en-IN" sz="32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C8E9246-C1D7-BA23-4431-0D8D733030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1003"/>
            <a:ext cx="7259445" cy="3909880"/>
          </a:xfr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b="1" dirty="0"/>
              <a:t>Healthcare Providers:</a:t>
            </a:r>
            <a:r>
              <a:rPr lang="en-IN" dirty="0"/>
              <a:t> Understand patterns in doctor visits and patient healthcare needs.</a:t>
            </a:r>
          </a:p>
          <a:p>
            <a:pPr lvl="0"/>
            <a:r>
              <a:rPr lang="en-IN" b="1" dirty="0"/>
              <a:t>Healthcare Policymakers:</a:t>
            </a:r>
            <a:r>
              <a:rPr lang="en-IN" dirty="0"/>
              <a:t> Support healthcare planning and resource allocation.</a:t>
            </a:r>
          </a:p>
          <a:p>
            <a:pPr lvl="0"/>
            <a:r>
              <a:rPr lang="en-IN" b="1" dirty="0"/>
              <a:t>Insurance Providers:</a:t>
            </a:r>
            <a:r>
              <a:rPr lang="en-IN" dirty="0"/>
              <a:t> Explore the relationship between insurance coverage and healthcare utilisation.</a:t>
            </a:r>
          </a:p>
          <a:p>
            <a:pPr lvl="0"/>
            <a:r>
              <a:rPr lang="en-IN" b="1" dirty="0"/>
              <a:t>Public Health Researchers:</a:t>
            </a:r>
            <a:r>
              <a:rPr lang="en-IN" dirty="0"/>
              <a:t> Study demographic and health-related factors associated with doctor visits.</a:t>
            </a:r>
          </a:p>
          <a:p>
            <a:pPr lvl="0"/>
            <a:r>
              <a:rPr lang="en-IN" b="1" dirty="0"/>
              <a:t>Healthcare Organisations:</a:t>
            </a:r>
            <a:r>
              <a:rPr lang="en-IN" dirty="0"/>
              <a:t> Identify trends that can help improve healthcare service planning.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52DBCCDC-0FB6-C6A9-393A-8A16E9E764FF}"/>
              </a:ext>
            </a:extLst>
          </p:cNvPr>
          <p:cNvSpPr txBox="1">
            <a:spLocks/>
          </p:cNvSpPr>
          <p:nvPr/>
        </p:nvSpPr>
        <p:spPr>
          <a:xfrm>
            <a:off x="675956" y="292253"/>
            <a:ext cx="5420043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/>
              <a:t>Technology Used:</a:t>
            </a:r>
            <a:endParaRPr lang="en-IN" sz="3200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580D7374-71A9-144F-B404-32F4493EFD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6" y="1171003"/>
            <a:ext cx="8491897" cy="301002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IN" b="1" dirty="0"/>
              <a:t>Python</a:t>
            </a:r>
            <a:r>
              <a:rPr lang="en-IN" dirty="0"/>
              <a:t> – Programming language used for data analysis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Jupyter Notebook</a:t>
            </a:r>
            <a:r>
              <a:rPr lang="en-IN" dirty="0"/>
              <a:t> – Environment used to perform and document the analysis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Pandas</a:t>
            </a:r>
            <a:r>
              <a:rPr lang="en-IN" dirty="0"/>
              <a:t> – Data cleaning, manipulation, and analysis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NumPy</a:t>
            </a:r>
            <a:r>
              <a:rPr lang="en-IN" dirty="0"/>
              <a:t> – Numerical and statistical operations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Matplotlib</a:t>
            </a:r>
            <a:r>
              <a:rPr lang="en-IN" dirty="0"/>
              <a:t> – Data visualisation </a:t>
            </a:r>
          </a:p>
          <a:p>
            <a:pPr lvl="0">
              <a:lnSpc>
                <a:spcPct val="100000"/>
              </a:lnSpc>
            </a:pPr>
            <a:r>
              <a:rPr lang="en-IN" b="1" dirty="0"/>
              <a:t>Seaborn</a:t>
            </a:r>
            <a:r>
              <a:rPr lang="en-IN" dirty="0"/>
              <a:t> – Statistical and advanced visualisations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04ACBDA-3881-15EE-7AF7-E00B9C989326}"/>
              </a:ext>
            </a:extLst>
          </p:cNvPr>
          <p:cNvSpPr txBox="1">
            <a:spLocks/>
          </p:cNvSpPr>
          <p:nvPr/>
        </p:nvSpPr>
        <p:spPr>
          <a:xfrm>
            <a:off x="675956" y="77565"/>
            <a:ext cx="6178068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Results - Doctor Visit Patterns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ABDA7DE3-B60A-DDD6-4302-2E65D2BEF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7915" y="4559726"/>
            <a:ext cx="11436170" cy="2157120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600" dirty="0"/>
              <a:t>Approximately </a:t>
            </a:r>
            <a:r>
              <a:rPr lang="en-IN" sz="1600" b="1" dirty="0"/>
              <a:t>80% of individuals did not visit a doctor</a:t>
            </a:r>
            <a:r>
              <a:rPr lang="en-IN" sz="1600" dirty="0"/>
              <a:t>, while 20% visited at least once.</a:t>
            </a:r>
          </a:p>
          <a:p>
            <a:pPr lvl="0"/>
            <a:r>
              <a:rPr lang="en-IN" sz="1600" dirty="0"/>
              <a:t>Most doctor visits were limited to </a:t>
            </a:r>
            <a:r>
              <a:rPr lang="en-IN" sz="1600" b="1" dirty="0"/>
              <a:t>one or two visits</a:t>
            </a:r>
            <a:r>
              <a:rPr lang="en-IN" sz="1600" dirty="0"/>
              <a:t>.</a:t>
            </a:r>
          </a:p>
          <a:p>
            <a:pPr lvl="0"/>
            <a:r>
              <a:rPr lang="en-IN" sz="1600" dirty="0"/>
              <a:t>The number of individuals decreased sharply as the number of visits increased.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500" b="1" dirty="0"/>
              <a:t>Key Takeaway: </a:t>
            </a:r>
            <a:r>
              <a:rPr lang="en-IN" sz="1600" dirty="0"/>
              <a:t>Doctor visits were uncommon for most individuals, with healthcare utilisation concentrated among those reporting zero or very few visits.</a:t>
            </a:r>
          </a:p>
          <a:p>
            <a:pPr marL="0" indent="0">
              <a:buNone/>
            </a:pPr>
            <a:endParaRPr lang="en-IN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6DA07-2C86-2042-8443-A97025611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17" y="795131"/>
            <a:ext cx="6178067" cy="3586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FCA4B2-398C-5D81-AB8D-F8D7FBEE9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519" y="795131"/>
            <a:ext cx="3527375" cy="35860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B87EB-A349-1268-F8F4-684ECF53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AAD150-8CFF-2A6D-3232-0C5C51BEA5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5DD7614-B617-3131-FBEB-B6CA35AD1C5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FED5DB0-6DFE-5E3E-BF19-D3B08031F963}"/>
              </a:ext>
            </a:extLst>
          </p:cNvPr>
          <p:cNvSpPr txBox="1">
            <a:spLocks/>
          </p:cNvSpPr>
          <p:nvPr/>
        </p:nvSpPr>
        <p:spPr>
          <a:xfrm>
            <a:off x="675956" y="77565"/>
            <a:ext cx="6178068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Results - Demographic Factors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ED2D90EF-9CF9-3DF0-15B7-AFBFBDC92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7915" y="4625630"/>
            <a:ext cx="11436170" cy="2157120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600" dirty="0"/>
              <a:t>Females were more likely to visit a doctor than males (approximately 24% vs. 16%).</a:t>
            </a:r>
          </a:p>
          <a:p>
            <a:pPr lvl="0"/>
            <a:r>
              <a:rPr lang="en-IN" sz="1600" dirty="0"/>
              <a:t>Doctor visit rates generally increased with age, reaching around 33% at age 72.</a:t>
            </a:r>
          </a:p>
          <a:p>
            <a:pPr lvl="0"/>
            <a:r>
              <a:rPr lang="en-IN" sz="1600" dirty="0"/>
              <a:t>Females had higher average visits at most younger and middle ages, while males recorded more visits at age 72.</a:t>
            </a:r>
          </a:p>
          <a:p>
            <a:pPr marL="0" indent="0">
              <a:buNone/>
            </a:pPr>
            <a:r>
              <a:rPr lang="en-IN" sz="1500" b="1" dirty="0"/>
              <a:t>Key Takeaway: </a:t>
            </a:r>
            <a:r>
              <a:rPr lang="en-IN" sz="1600" dirty="0"/>
              <a:t>Doctor visit patterns varied by age and gender, with older individuals generally showing higher healthcare utilisation.</a:t>
            </a:r>
          </a:p>
          <a:p>
            <a:pPr marL="0" indent="0">
              <a:buNone/>
            </a:pPr>
            <a:endParaRPr lang="en-IN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C71AD-A25C-E1C7-361F-FF74AFC1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14" y="923621"/>
            <a:ext cx="5806575" cy="35529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5E06C8-0B1A-58D4-5A53-99BF9F33D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2827" y="2167816"/>
            <a:ext cx="5017178" cy="23602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8A8E5E-5BC9-F1A7-DFD0-1EDE02E51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264" y="102279"/>
            <a:ext cx="3639672" cy="19674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800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1FD6-95D5-2356-3222-E4A1E3793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1034BB-2643-BD59-DF68-1B8BE584D3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EE694CF-5167-75B3-E0E8-347E70A3D32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1C989AAB-B08D-81AF-5B97-D85601F859D6}"/>
              </a:ext>
            </a:extLst>
          </p:cNvPr>
          <p:cNvSpPr txBox="1">
            <a:spLocks/>
          </p:cNvSpPr>
          <p:nvPr/>
        </p:nvSpPr>
        <p:spPr>
          <a:xfrm>
            <a:off x="675956" y="77565"/>
            <a:ext cx="6869832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Results - Health and Illness Factors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2F276D32-3B0A-CA40-8765-CDB41D1AF8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7915" y="4625630"/>
            <a:ext cx="11436170" cy="2157120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600" dirty="0"/>
              <a:t>Most individuals reported </a:t>
            </a:r>
            <a:r>
              <a:rPr lang="en-IN" sz="1600" b="1" dirty="0"/>
              <a:t>0–1 illnesses</a:t>
            </a:r>
            <a:r>
              <a:rPr lang="en-IN" sz="1600" dirty="0"/>
              <a:t>, while fewer reported 3 or more.</a:t>
            </a:r>
          </a:p>
          <a:p>
            <a:pPr lvl="0"/>
            <a:r>
              <a:rPr lang="en-IN" sz="1600" dirty="0"/>
              <a:t>Average doctor visits generally increased with illness count, particularly among older individuals.</a:t>
            </a:r>
          </a:p>
          <a:p>
            <a:pPr lvl="0"/>
            <a:r>
              <a:rPr lang="en-IN" sz="1600" dirty="0"/>
              <a:t>Individuals aged 42 and 52 with 4–5 illnesses showed relatively high average doctor visits.</a:t>
            </a:r>
          </a:p>
          <a:p>
            <a:pPr marL="0" indent="0">
              <a:buNone/>
            </a:pPr>
            <a:r>
              <a:rPr lang="en-IN" sz="1500" b="1" dirty="0"/>
              <a:t>Key Takeaway: </a:t>
            </a:r>
            <a:r>
              <a:rPr lang="en-IN" sz="1600" dirty="0"/>
              <a:t>Higher illness counts were generally associated with more doctor visits, with the pattern varying across age groups.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9431E-6A87-9063-58E0-8E03E247E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22" y="769547"/>
            <a:ext cx="4833899" cy="37388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923AD7-3ADE-D948-A829-D36F17750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747" y="769547"/>
            <a:ext cx="4102339" cy="37388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491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0C3C-1C0C-C631-8CAB-C2ECE30F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9AA275-8B39-A7E5-C7D4-86E2CBBA39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74B69BC-5D22-AD7E-BE01-2C5A1312504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CD657312-FD18-1AED-FEAC-B5DF7BAFE129}"/>
              </a:ext>
            </a:extLst>
          </p:cNvPr>
          <p:cNvSpPr txBox="1">
            <a:spLocks/>
          </p:cNvSpPr>
          <p:nvPr/>
        </p:nvSpPr>
        <p:spPr>
          <a:xfrm>
            <a:off x="675955" y="77565"/>
            <a:ext cx="10328649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Results - Activity Limitations &amp; Healthcare Coverage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961CF390-51DB-7C9D-3118-521F9AB1D8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7915" y="4420925"/>
            <a:ext cx="11436170" cy="2361825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IN" sz="1600" dirty="0"/>
              <a:t>Individuals with activity-limiting chronic conditions had the highest average doctor visits (0.60).</a:t>
            </a:r>
          </a:p>
          <a:p>
            <a:pPr lvl="0"/>
            <a:r>
              <a:rPr lang="en-IN" sz="1600" dirty="0"/>
              <a:t>Private insurance coverage showed little difference in doctor visit rates between covered and uncovered individuals.</a:t>
            </a:r>
          </a:p>
          <a:p>
            <a:pPr lvl="0"/>
            <a:r>
              <a:rPr lang="en-IN" sz="1600" dirty="0"/>
              <a:t>Individuals with special-status free insurance had a higher doctor visit rate (about 32%) than those without it (about 18%).</a:t>
            </a:r>
          </a:p>
          <a:p>
            <a:pPr marL="0" indent="0">
              <a:buNone/>
            </a:pPr>
            <a:r>
              <a:rPr lang="en-IN" sz="1500" b="1" dirty="0"/>
              <a:t>Key Takeaway: </a:t>
            </a:r>
            <a:r>
              <a:rPr lang="en-IN" sz="1600" dirty="0"/>
              <a:t>Chronic conditions limiting activity and certain healthcare coverage categories were associated with higher doctor visit rates.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5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E493E-E5F4-D6AC-EF74-4F26F1B58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90" y="828275"/>
            <a:ext cx="7537837" cy="34177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476CA9-CD6B-DE43-F376-052427264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819" y="828275"/>
            <a:ext cx="4206823" cy="34177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2341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65C0-A82C-D017-AE9F-C24ADCED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820277-6475-ED67-D5E2-EAFAE13CE1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53052E1-5A2F-5701-DDB8-0BFE39EBDE6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18332C2-8168-A979-C61E-329E78BA2BBF}"/>
              </a:ext>
            </a:extLst>
          </p:cNvPr>
          <p:cNvSpPr txBox="1">
            <a:spLocks/>
          </p:cNvSpPr>
          <p:nvPr/>
        </p:nvSpPr>
        <p:spPr>
          <a:xfrm>
            <a:off x="675955" y="77565"/>
            <a:ext cx="10328649" cy="7901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/>
              <a:t>Results - Key Relationships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AD34DE4D-896E-772D-FA20-D2D41435BB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7915" y="4524291"/>
            <a:ext cx="11436170" cy="2290263"/>
          </a:xfrm>
          <a:solidFill>
            <a:schemeClr val="bg1">
              <a:alpha val="95000"/>
            </a:schemeClr>
          </a:solidFill>
          <a:ln>
            <a:solidFill>
              <a:srgbClr val="FFC000">
                <a:alpha val="95000"/>
              </a:srgbClr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1500" b="1" dirty="0"/>
              <a:t>Key Findings:</a:t>
            </a:r>
            <a:endParaRPr lang="en-IN" sz="1500" dirty="0"/>
          </a:p>
          <a:p>
            <a:pPr lvl="0"/>
            <a:r>
              <a:rPr lang="en-US" sz="1600" dirty="0"/>
              <a:t>reduced had the strongest positive correlation with doctor visits (0.42).</a:t>
            </a:r>
          </a:p>
          <a:p>
            <a:pPr lvl="0"/>
            <a:r>
              <a:rPr lang="en-US" sz="1600" dirty="0"/>
              <a:t>illness showed a positive correlation with doctor visits (0.22), while health had a weaker positive correlation (0.19).</a:t>
            </a:r>
          </a:p>
          <a:p>
            <a:pPr lvl="0"/>
            <a:r>
              <a:rPr lang="en-US" sz="1600" dirty="0" err="1"/>
              <a:t>age_years</a:t>
            </a:r>
            <a:r>
              <a:rPr lang="en-US" sz="1600" dirty="0"/>
              <a:t> showed a weak positive correlation (0.12), while </a:t>
            </a:r>
            <a:r>
              <a:rPr lang="en-US" sz="1600" dirty="0" err="1"/>
              <a:t>income_dollars</a:t>
            </a:r>
            <a:r>
              <a:rPr lang="en-US" sz="1600" dirty="0"/>
              <a:t> showed a weak negative correlation (−0.08).</a:t>
            </a:r>
          </a:p>
          <a:p>
            <a:pPr marL="0" indent="0">
              <a:buNone/>
            </a:pPr>
            <a:r>
              <a:rPr lang="en-IN" sz="1500" b="1" dirty="0"/>
              <a:t>Key Takeaway: </a:t>
            </a:r>
            <a:r>
              <a:rPr lang="en-IN" sz="1600" dirty="0"/>
              <a:t>Reduced activity and illness count showed stronger positive associations with doctor visits than age or income.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FA337-BD78-D685-15E5-97B2A4F2D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402" y="851776"/>
            <a:ext cx="5017753" cy="35456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85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  <p:bldP spid="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74D35C1C-1797-1673-EA28-772E38D69715}"/>
              </a:ext>
            </a:extLst>
          </p:cNvPr>
          <p:cNvSpPr txBox="1">
            <a:spLocks/>
          </p:cNvSpPr>
          <p:nvPr/>
        </p:nvSpPr>
        <p:spPr>
          <a:xfrm>
            <a:off x="1909686" y="2422242"/>
            <a:ext cx="8372628" cy="7901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1769</TotalTime>
  <Words>704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 TIRTC</vt:lpstr>
      <vt:lpstr>Problem Statement: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SANTOSH J</cp:lastModifiedBy>
  <cp:revision>110</cp:revision>
  <dcterms:created xsi:type="dcterms:W3CDTF">2021-07-11T13:13:15Z</dcterms:created>
  <dcterms:modified xsi:type="dcterms:W3CDTF">2026-10-14T11:37:36Z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